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Speech-to-Speech Translation</a:t>
            </a:r>
          </a:p>
          <a:p>
            <a:r>
              <a:t>for Low-Resource Arabic Dialects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Architecting a Dialect-Aware Transformer</a:t>
            </a:r>
          </a:p>
          <a:p/>
          <a:p>
            <a:r>
              <a:t>Graduate Machine Learning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The 'Dialect Gap'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Standard models (like Google Translate) fail on spoken dialects.</a:t>
            </a:r>
          </a:p>
          <a:p>
            <a:pPr>
              <a:defRPr sz="2000"/>
            </a:pPr>
            <a:r>
              <a:t>They are trained on Modern Standard Arabic (MSA), not daily speech.</a:t>
            </a:r>
          </a:p>
          <a:p>
            <a:pPr>
              <a:defRPr sz="2000"/>
            </a:pPr>
            <a:r>
              <a:t>Example: 'How are you?'</a:t>
            </a:r>
          </a:p>
          <a:p>
            <a:pPr>
              <a:defRPr sz="2000"/>
            </a:pPr>
            <a:r>
              <a:t>   - MSA: 'Kayfa Haluk' (Formal)</a:t>
            </a:r>
          </a:p>
          <a:p>
            <a:pPr>
              <a:defRPr sz="2000"/>
            </a:pPr>
            <a:r>
              <a:t>   - Egyptian: 'Izzayak' (What people actually say)</a:t>
            </a:r>
          </a:p>
          <a:p>
            <a:pPr>
              <a:defRPr sz="2000"/>
            </a:pPr>
            <a:r>
              <a:t>Latency: Cloud APIs are too slow for real-time conversation.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Baseline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I have built a functional proof-of-concept pipeline:</a:t>
            </a:r>
          </a:p>
          <a:p>
            <a:pPr>
              <a:defRPr sz="2000"/>
            </a:pPr>
            <a:r>
              <a:t>1. Input: Google Speech Recognition (STT)</a:t>
            </a:r>
          </a:p>
          <a:p>
            <a:pPr>
              <a:defRPr sz="2000"/>
            </a:pPr>
            <a:r>
              <a:t>2. Translation: Google Translate API (MT)</a:t>
            </a:r>
          </a:p>
          <a:p>
            <a:pPr>
              <a:defRPr sz="2000"/>
            </a:pPr>
            <a:r>
              <a:t>3. Output: Google TTS (Text-to-Speech)</a:t>
            </a:r>
          </a:p>
          <a:p>
            <a:pPr>
              <a:defRPr sz="2000"/>
            </a:pPr>
            <a:r>
              <a:t>Status: Working Python app supporting English &lt;-&gt; MSA.</a:t>
            </a:r>
          </a:p>
          <a:p>
            <a:pPr>
              <a:defRPr sz="2000"/>
            </a:pPr>
            <a:r>
              <a:t>Limitation: It is a 'Black Box'. I cannot fine-tune it for dialects or code-switching.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Architecture: Custom Transformer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Goal: Move from APIs to a custom Neural Machine Translation (NMT) model.</a:t>
            </a:r>
          </a:p>
          <a:p>
            <a:pPr>
              <a:defRPr sz="2000"/>
            </a:pPr>
            <a:r>
              <a:t>Model Type: Sequence-to-Sequence (Seq2Seq) Transformer.</a:t>
            </a:r>
          </a:p>
          <a:p>
            <a:pPr>
              <a:defRPr sz="2000"/>
            </a:pPr>
            <a:r>
              <a:t>Why Transformers?</a:t>
            </a:r>
          </a:p>
          <a:p>
            <a:pPr>
              <a:defRPr sz="2000"/>
            </a:pPr>
            <a:r>
              <a:t>   - Handle long-range dependencies better than RNNs.</a:t>
            </a:r>
          </a:p>
          <a:p>
            <a:pPr>
              <a:defRPr sz="2000"/>
            </a:pPr>
            <a:r>
              <a:t>   - Crucial for Arabic sentence structure (VSO vs SVO).</a:t>
            </a:r>
          </a:p>
          <a:p>
            <a:pPr>
              <a:defRPr sz="2000"/>
            </a:pPr>
            <a:r>
              <a:t>Key Components:</a:t>
            </a:r>
          </a:p>
          <a:p>
            <a:pPr>
              <a:defRPr sz="2000"/>
            </a:pPr>
            <a:r>
              <a:t>   - Multi-Head Attention: To map dialect words to English context.</a:t>
            </a:r>
          </a:p>
          <a:p>
            <a:pPr>
              <a:defRPr sz="2000"/>
            </a:pPr>
            <a:r>
              <a:t>   - Custom Tokenizer: Handling informal spelling (Arabizi).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Strategy: The MADAR Corpus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Training Data: MADAR (Multi-Arabic Dialect Applications and Resources).</a:t>
            </a:r>
          </a:p>
          <a:p>
            <a:pPr>
              <a:defRPr sz="2000"/>
            </a:pPr>
            <a:r>
              <a:t>Why MADAR?</a:t>
            </a:r>
          </a:p>
          <a:p>
            <a:pPr>
              <a:defRPr sz="2000"/>
            </a:pPr>
            <a:r>
              <a:t>   - Parallel sentences for 25 different Arab city dialects.</a:t>
            </a:r>
          </a:p>
          <a:p>
            <a:pPr>
              <a:defRPr sz="2000"/>
            </a:pPr>
            <a:r>
              <a:t>   - Aligned with English and MSA.</a:t>
            </a:r>
          </a:p>
          <a:p>
            <a:pPr>
              <a:defRPr sz="2000"/>
            </a:pPr>
            <a:r>
              <a:t>   - Focus: Travel &amp; Tourism domain (High utility).</a:t>
            </a:r>
          </a:p>
          <a:p>
            <a:pPr>
              <a:defRPr sz="2000"/>
            </a:pPr>
            <a:r>
              <a:t>Preprocessing:</a:t>
            </a:r>
          </a:p>
          <a:p>
            <a:pPr>
              <a:defRPr sz="2000"/>
            </a:pPr>
            <a:r>
              <a:t>   - Cleaning diacritics and normalizing text.</a:t>
            </a:r>
          </a:p>
          <a:p>
            <a:pPr>
              <a:defRPr sz="2000"/>
            </a:pPr>
            <a:r>
              <a:t>   - Data Augmentation using Back-Translation.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How will I measure success?</a:t>
            </a:r>
          </a:p>
          <a:p>
            <a:pPr>
              <a:defRPr sz="2000"/>
            </a:pPr>
            <a:r>
              <a:t>Quantitative Metrics:</a:t>
            </a:r>
          </a:p>
          <a:p>
            <a:pPr>
              <a:defRPr sz="2000"/>
            </a:pPr>
            <a:r>
              <a:t>   - BLEU Score: Comparing translation quality vs. human reference.</a:t>
            </a:r>
          </a:p>
          <a:p>
            <a:pPr>
              <a:defRPr sz="2000"/>
            </a:pPr>
            <a:r>
              <a:t>   - WER (Word Error Rate): Measuring speech recognition accuracy.</a:t>
            </a:r>
          </a:p>
          <a:p>
            <a:pPr>
              <a:defRPr sz="2000"/>
            </a:pPr>
            <a:r>
              <a:t>Qualitative Metrics:</a:t>
            </a:r>
          </a:p>
          <a:p>
            <a:pPr>
              <a:defRPr sz="2000"/>
            </a:pPr>
            <a:r>
              <a:t>   - Subjective testing with native speakers.</a:t>
            </a:r>
          </a:p>
          <a:p>
            <a:pPr>
              <a:defRPr sz="2000"/>
            </a:pPr>
            <a:r>
              <a:t>   - Comparison against Google Translate API on slang phrases.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Phase 1 (Complete): Baseline API-based app (English &lt;-&gt; MSA).</a:t>
            </a:r>
          </a:p>
          <a:p>
            <a:pPr>
              <a:defRPr sz="2000"/>
            </a:pPr>
            <a:r>
              <a:t>Phase 2 (Current): Training Transformer on Egyptian/Levantine subsets.</a:t>
            </a:r>
          </a:p>
          <a:p>
            <a:pPr>
              <a:defRPr sz="2000"/>
            </a:pPr>
            <a:r>
              <a:t>Phase 3 (Future):</a:t>
            </a:r>
          </a:p>
          <a:p>
            <a:pPr>
              <a:defRPr sz="2000"/>
            </a:pPr>
            <a:r>
              <a:t>   - Model Quantization (Compression).</a:t>
            </a:r>
          </a:p>
          <a:p>
            <a:pPr>
              <a:defRPr sz="2000"/>
            </a:pPr>
            <a:r>
              <a:t>   - Running offline on edge devices (low latency).</a:t>
            </a:r>
          </a:p>
          <a:p>
            <a:pPr>
              <a:defRPr sz="2000"/>
            </a:pPr>
            <a:r>
              <a:t>Conclusion: Moving from 'consuming APIs' to 'architecting NMT solutions'.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